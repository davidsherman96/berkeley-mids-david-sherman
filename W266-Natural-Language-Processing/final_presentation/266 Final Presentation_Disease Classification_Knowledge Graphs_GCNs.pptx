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CCD145-1572-430B-A54B-F40AA18D7F0E}">
  <a:tblStyle styleId="{64CCD145-1572-430B-A54B-F40AA18D7F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ec7fede1de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ec7fede1d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ec7fede1de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ec7fede1de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David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Dataset 1 - we trained BERT on dataset 1; main; didn’t get good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2 - used to build the knowledge graph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ec7fede1de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ec7fede1de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David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ec7fede1de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ec7fede1de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David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ec7fede1de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ec7fede1de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Janhavi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are some plots that show the training and </a:t>
            </a:r>
            <a:r>
              <a:rPr lang="en"/>
              <a:t>validation</a:t>
            </a:r>
            <a:r>
              <a:rPr lang="en"/>
              <a:t> accuracy for the BERT model, the model </a:t>
            </a:r>
            <a:r>
              <a:rPr lang="en"/>
              <a:t>achieved</a:t>
            </a:r>
            <a:r>
              <a:rPr lang="en"/>
              <a:t> a validation accuracy of 87%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However, the confusion matrix shows disease </a:t>
            </a:r>
            <a:r>
              <a:rPr lang="en"/>
              <a:t>misclassification</a:t>
            </a:r>
            <a:r>
              <a:rPr lang="en"/>
              <a:t> for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a6b39575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a6b39575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Janhavi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ec7fede1de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ec7fede1de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Janhavi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c7fede1de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ec7fede1de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Janhavi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ec7fede1de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ec7fede1de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ec7fede1de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ec7fede1de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Disease Classification: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6"/>
              <a:t>Knowledge Graphs &amp; GCNs</a:t>
            </a:r>
            <a:endParaRPr sz="2356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 Sherman &amp; Janhavi Subedarpage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 &amp; Background	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/>
              <a:t>Goal</a:t>
            </a:r>
            <a:r>
              <a:rPr lang="en" sz="1800"/>
              <a:t>: To develop a model, using knowledge graphs and graph convolutional networks (GCNs), that can classify diseases based on provided patient symptoms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Model applications</a:t>
            </a:r>
            <a:endParaRPr sz="18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Classify illnesses and treatments more efficiently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Reduce room for error 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Useful for high risk diseases that require immediate care</a:t>
            </a:r>
            <a:endParaRPr sz="16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Knowledge graphs offer a structured means of capturing relationships between entities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Datasets</a:t>
            </a:r>
            <a:endParaRPr/>
          </a:p>
        </p:txBody>
      </p:sp>
      <p:graphicFrame>
        <p:nvGraphicFramePr>
          <p:cNvPr id="147" name="Google Shape;147;p15"/>
          <p:cNvGraphicFramePr/>
          <p:nvPr/>
        </p:nvGraphicFramePr>
        <p:xfrm>
          <a:off x="1195850" y="36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{64CCD145-1572-430B-A54B-F40AA18D7F0E}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>
                          <a:solidFill>
                            <a:schemeClr val="lt2"/>
                          </a:solidFill>
                        </a:rPr>
                        <a:t>Disease</a:t>
                      </a:r>
                      <a:endParaRPr b="1" u="sng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>
                          <a:solidFill>
                            <a:schemeClr val="accent2"/>
                          </a:solidFill>
                        </a:rPr>
                        <a:t>Symptom 1</a:t>
                      </a:r>
                      <a:endParaRPr b="1" u="sng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>
                          <a:solidFill>
                            <a:schemeClr val="accent2"/>
                          </a:solidFill>
                        </a:rPr>
                        <a:t>Symptom 2</a:t>
                      </a:r>
                      <a:endParaRPr b="1" u="sng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>
                          <a:solidFill>
                            <a:schemeClr val="accent2"/>
                          </a:solidFill>
                        </a:rPr>
                        <a:t>Symptom 3</a:t>
                      </a:r>
                      <a:endParaRPr b="1" u="sng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6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GERD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Stomach pain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Tongue ulcers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Cough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6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Diabetes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Fatigue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Weight loss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Irregular sugar level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8" name="Google Shape;148;p15"/>
          <p:cNvGraphicFramePr/>
          <p:nvPr/>
        </p:nvGraphicFramePr>
        <p:xfrm>
          <a:off x="1195850" y="1722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{64CCD145-1572-430B-A54B-F40AA18D7F0E}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>
                          <a:solidFill>
                            <a:schemeClr val="lt2"/>
                          </a:solidFill>
                          <a:highlight>
                            <a:schemeClr val="dk1"/>
                          </a:highlight>
                        </a:rPr>
                        <a:t>Disease</a:t>
                      </a:r>
                      <a:endParaRPr b="1" u="sng">
                        <a:solidFill>
                          <a:schemeClr val="lt2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>
                          <a:solidFill>
                            <a:schemeClr val="accent2"/>
                          </a:solidFill>
                        </a:rPr>
                        <a:t>Patient Symptoms</a:t>
                      </a:r>
                      <a:endParaRPr b="1" u="sng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Diabetes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I have a dry mouth and throat. I also have been experiencing an increased appetite and hunger. However, I do feel very tired at times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525" marB="91425" marR="9525" marL="9525" anchor="b"/>
                </a:tc>
              </a:tr>
            </a:tbl>
          </a:graphicData>
        </a:graphic>
      </p:graphicFrame>
      <p:sp>
        <p:nvSpPr>
          <p:cNvPr id="149" name="Google Shape;149;p15"/>
          <p:cNvSpPr txBox="1"/>
          <p:nvPr/>
        </p:nvSpPr>
        <p:spPr>
          <a:xfrm>
            <a:off x="3484700" y="1113875"/>
            <a:ext cx="2661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Dataset 1 - Patient Narratives</a:t>
            </a:r>
            <a:endParaRPr b="1" sz="130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3484800" y="3237475"/>
            <a:ext cx="2661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Dataset 2 - </a:t>
            </a:r>
            <a:r>
              <a:rPr b="1" lang="en" sz="13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Knowledge</a:t>
            </a:r>
            <a:r>
              <a:rPr b="1" lang="en" sz="13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Graphs</a:t>
            </a:r>
            <a:endParaRPr b="1" sz="130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Models/Methods Used</a:t>
            </a:r>
            <a:endParaRPr/>
          </a:p>
        </p:txBody>
      </p:sp>
      <p:sp>
        <p:nvSpPr>
          <p:cNvPr id="156" name="Google Shape;156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Baseline Model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Used BERT for multi-class text classification</a:t>
            </a:r>
            <a:endParaRPr sz="1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Knowledge Graphs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Used to depict relationships between diseases and symptoms</a:t>
            </a:r>
            <a:endParaRPr sz="1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Graph Convolutional</a:t>
            </a:r>
            <a:r>
              <a:rPr lang="en" sz="1600"/>
              <a:t> Networks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Used to understand </a:t>
            </a:r>
            <a:r>
              <a:rPr lang="en" sz="1400"/>
              <a:t>and learn from data organized in a graph structure, making them particularly useful for tasks where relationships and connections between entities are crucial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162" name="Google Shape;162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Trained BERT model by using splits of 80/10/10% for training, validation, and test datasets, respectively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Implemented ‘bert-base-cased’ tokenizer to tokenize and encode sentences (patient narratives)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Constructed knowledge graphs by mapping all diseases and associated symptoms as source and target nodes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Built the graph convolutional network, which involved text cleaning, making the knowledge graphs, then training the GCN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Figures</a:t>
            </a:r>
            <a:endParaRPr/>
          </a:p>
        </p:txBody>
      </p:sp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7925" y="2081650"/>
            <a:ext cx="2799100" cy="216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1082025" y="1569725"/>
            <a:ext cx="24309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Baseline Model Performance</a:t>
            </a:r>
            <a:endParaRPr sz="130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5097275" y="1569725"/>
            <a:ext cx="30774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Confusion Matrix - Similar Diseases</a:t>
            </a:r>
            <a:endParaRPr sz="130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1" name="Google Shape;17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1350" y="2081650"/>
            <a:ext cx="5142175" cy="2530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Figures</a:t>
            </a:r>
            <a:endParaRPr/>
          </a:p>
        </p:txBody>
      </p:sp>
      <p:pic>
        <p:nvPicPr>
          <p:cNvPr id="177" name="Google Shape;17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8600" y="1196350"/>
            <a:ext cx="3039926" cy="1928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1800" y="3574550"/>
            <a:ext cx="3089650" cy="151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819575" y="1569725"/>
            <a:ext cx="31902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Knowledge Graph with TF-IDF Vectors</a:t>
            </a:r>
            <a:endParaRPr sz="130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329800" y="807725"/>
            <a:ext cx="28788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Knowledge Graph - All Diseases</a:t>
            </a:r>
            <a:endParaRPr sz="130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5329800" y="3185925"/>
            <a:ext cx="30066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Knowledge Graph - Single Disease</a:t>
            </a:r>
            <a:endParaRPr sz="130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600" y="1978125"/>
            <a:ext cx="3415265" cy="294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</a:t>
            </a:r>
            <a:endParaRPr/>
          </a:p>
        </p:txBody>
      </p:sp>
      <p:graphicFrame>
        <p:nvGraphicFramePr>
          <p:cNvPr id="188" name="Google Shape;188;p20"/>
          <p:cNvGraphicFramePr/>
          <p:nvPr/>
        </p:nvGraphicFramePr>
        <p:xfrm>
          <a:off x="697650" y="155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{64CCD145-1572-430B-A54B-F40AA18D7F0E}</a:tableStyleId>
              </a:tblPr>
              <a:tblGrid>
                <a:gridCol w="1611300"/>
                <a:gridCol w="1444200"/>
                <a:gridCol w="1527750"/>
                <a:gridCol w="1527750"/>
                <a:gridCol w="1527750"/>
              </a:tblGrid>
              <a:tr h="357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>
                          <a:solidFill>
                            <a:schemeClr val="lt2"/>
                          </a:solidFill>
                        </a:rPr>
                        <a:t>Model</a:t>
                      </a:r>
                      <a:endParaRPr b="1" u="sng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>
                          <a:solidFill>
                            <a:schemeClr val="accent2"/>
                          </a:solidFill>
                        </a:rPr>
                        <a:t>Loss</a:t>
                      </a:r>
                      <a:endParaRPr b="1" u="sng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>
                          <a:solidFill>
                            <a:schemeClr val="accent2"/>
                          </a:solidFill>
                        </a:rPr>
                        <a:t>Precision</a:t>
                      </a:r>
                      <a:endParaRPr b="1" u="sng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>
                          <a:solidFill>
                            <a:schemeClr val="accent2"/>
                          </a:solidFill>
                        </a:rPr>
                        <a:t>Recall</a:t>
                      </a:r>
                      <a:endParaRPr b="1" u="sng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>
                          <a:solidFill>
                            <a:schemeClr val="accent2"/>
                          </a:solidFill>
                        </a:rPr>
                        <a:t>Macro F1</a:t>
                      </a:r>
                      <a:endParaRPr b="1" u="sng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57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BERT (Training)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</a:rPr>
                        <a:t>0.505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</a:rPr>
                        <a:t>0.87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</a:rPr>
                        <a:t>0.87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</a:rPr>
                        <a:t>0.87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53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Text GCN (Test)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</a:rPr>
                        <a:t>0.202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</a:rPr>
                        <a:t>0.94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</a:rPr>
                        <a:t>0.93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</a:rPr>
                        <a:t>0.93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89" name="Google Shape;189;p20"/>
          <p:cNvSpPr txBox="1"/>
          <p:nvPr>
            <p:ph idx="1" type="body"/>
          </p:nvPr>
        </p:nvSpPr>
        <p:spPr>
          <a:xfrm>
            <a:off x="1297500" y="2956100"/>
            <a:ext cx="7038900" cy="15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BERT model was prone to misclassification (i.e. confused common cold for pneumonia)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GCN model yielded more accurate results, as it did a better job capturing semantic relationships </a:t>
            </a:r>
            <a:r>
              <a:rPr lang="en"/>
              <a:t>between</a:t>
            </a:r>
            <a:r>
              <a:rPr lang="en"/>
              <a:t> diseases and symptoms; also involved: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Meticulous cleaning of patient narrative text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Introducing a knowledge graph based on TF-IDF vectors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Pointwise mutual information (PMI) calculations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&amp; Next Steps</a:t>
            </a:r>
            <a:endParaRPr/>
          </a:p>
        </p:txBody>
      </p:sp>
      <p:sp>
        <p:nvSpPr>
          <p:cNvPr id="195" name="Google Shape;195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</a:t>
            </a:r>
            <a:r>
              <a:rPr lang="en"/>
              <a:t>o enhance the capture of context and semantic relationships in textual data, we can consider integrating attention layers into the GCN or combining them with pre-trained transformers like BERT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If allotted more time, we would have liked to build a chatbot capable of processing user symptoms and returning classified illnesses and suggested remedies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01" name="Google Shape;201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Wang, X., Chused, A., Elhadad, N., Friedman, C., \&amp; Markatou, M. (2008). Automated knowledge acquisition from clinical narrative reports. AMIA ... Annual Symposium proceedings. AMIA Symposium, 2008, 783–787.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Kaggle (2022). Disease Symptom Prediction [Data set]. https://www.kaggle.com/datasets/itachi9604/disease-symptom-description-dataset?select=dataset.csv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Barman, N., Karim, F., Sharma, K. (2023). Symptom2Disease [Data set]. https://www.kaggle.com/datasets/niyarrbarman/symptom2disease/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Yuxing Lu, Xukai Zhao, and Jinzhuo Wang. 2023. Medical knowledge-enhanced prompt learning for diagnosis classification from clinical text. In Proceedings of the 5th Clinical Natural Language Processing Workshop, pages 278–288, Toronto, Canada. Association for Computational Linguistics.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Gupta, K. (2023, June 19). How to create and use a medical chatbot for medical diagnosis, symptom checking, and more - detailed guide. Tars Blog. https://www.hellotars.com/blog/how-to-create-and-use-a-medical-chatbot-for-medical-diagnosis-symptom-checking-and-more-detailed-guide/ 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Naveen. (2023, June 26). How to create a healthcare chatbot using NLP - kommunicate. Kommunicate Blog. https://www.kommunicate.io/blog/nlp-in-healthcare/ 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Yao, L., Mao, C., \&amp;amp; Luo, Y. (2019). (rep.). Graph Convolutional Networks for Text Classification. Retrieved December 10, 2023, from https://arxiv.org/pdf/1809.05679.pdf. 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Luo, H., Li, S.-W., \&amp;amp; Glass, J. (2020). (rep.). Knowledge Grounded Conversational Symptom Detection with Graph Memory Networks. Retrieved December 10, 2023, from https://aclanthology.org/2020.clinicalnlp-1.16.pdf. </a:t>
            </a:r>
            <a:endParaRPr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